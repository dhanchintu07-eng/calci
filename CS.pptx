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4CFF43"/>
    <a:srgbClr val="F8EC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20281-2DBE-4D95-A1A6-F2B0D901A3A4}" type="datetimeFigureOut">
              <a:rPr lang="en-IN" smtClean="0"/>
              <a:t>20-12-2025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ED786-1BFD-4CCC-B2D5-2069180465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7803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20281-2DBE-4D95-A1A6-F2B0D901A3A4}" type="datetimeFigureOut">
              <a:rPr lang="en-IN" smtClean="0"/>
              <a:t>20-12-2025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ED786-1BFD-4CCC-B2D5-2069180465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097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20281-2DBE-4D95-A1A6-F2B0D901A3A4}" type="datetimeFigureOut">
              <a:rPr lang="en-IN" smtClean="0"/>
              <a:t>20-12-2025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ED786-1BFD-4CCC-B2D5-2069180465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388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20281-2DBE-4D95-A1A6-F2B0D901A3A4}" type="datetimeFigureOut">
              <a:rPr lang="en-IN" smtClean="0"/>
              <a:t>20-12-2025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ED786-1BFD-4CCC-B2D5-2069180465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0489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20281-2DBE-4D95-A1A6-F2B0D901A3A4}" type="datetimeFigureOut">
              <a:rPr lang="en-IN" smtClean="0"/>
              <a:t>20-12-2025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ED786-1BFD-4CCC-B2D5-2069180465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8987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20281-2DBE-4D95-A1A6-F2B0D901A3A4}" type="datetimeFigureOut">
              <a:rPr lang="en-IN" smtClean="0"/>
              <a:t>20-12-2025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ED786-1BFD-4CCC-B2D5-2069180465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1847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20281-2DBE-4D95-A1A6-F2B0D901A3A4}" type="datetimeFigureOut">
              <a:rPr lang="en-IN" smtClean="0"/>
              <a:t>20-12-2025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ED786-1BFD-4CCC-B2D5-2069180465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7035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20281-2DBE-4D95-A1A6-F2B0D901A3A4}" type="datetimeFigureOut">
              <a:rPr lang="en-IN" smtClean="0"/>
              <a:t>20-12-2025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ED786-1BFD-4CCC-B2D5-2069180465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1325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20281-2DBE-4D95-A1A6-F2B0D901A3A4}" type="datetimeFigureOut">
              <a:rPr lang="en-IN" smtClean="0"/>
              <a:t>20-12-2025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ED786-1BFD-4CCC-B2D5-2069180465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8903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20281-2DBE-4D95-A1A6-F2B0D901A3A4}" type="datetimeFigureOut">
              <a:rPr lang="en-IN" smtClean="0"/>
              <a:t>20-12-2025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ED786-1BFD-4CCC-B2D5-2069180465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1220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20281-2DBE-4D95-A1A6-F2B0D901A3A4}" type="datetimeFigureOut">
              <a:rPr lang="en-IN" smtClean="0"/>
              <a:t>20-12-2025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ED786-1BFD-4CCC-B2D5-2069180465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35908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20281-2DBE-4D95-A1A6-F2B0D901A3A4}" type="datetimeFigureOut">
              <a:rPr lang="en-IN" smtClean="0"/>
              <a:t>20-12-2025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ED786-1BFD-4CCC-B2D5-206918046562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321124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20281-2DBE-4D95-A1A6-F2B0D901A3A4}" type="datetimeFigureOut">
              <a:rPr lang="en-IN" smtClean="0"/>
              <a:t>20-12-2025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ED786-1BFD-4CCC-B2D5-2069180465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5316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20281-2DBE-4D95-A1A6-F2B0D901A3A4}" type="datetimeFigureOut">
              <a:rPr lang="en-IN" smtClean="0"/>
              <a:t>20-12-2025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ED786-1BFD-4CCC-B2D5-2069180465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63783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20281-2DBE-4D95-A1A6-F2B0D901A3A4}" type="datetimeFigureOut">
              <a:rPr lang="en-IN" smtClean="0"/>
              <a:t>20-12-2025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ED786-1BFD-4CCC-B2D5-2069180465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27659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20281-2DBE-4D95-A1A6-F2B0D901A3A4}" type="datetimeFigureOut">
              <a:rPr lang="en-IN" smtClean="0"/>
              <a:t>20-12-2025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ED786-1BFD-4CCC-B2D5-2069180465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91780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20281-2DBE-4D95-A1A6-F2B0D901A3A4}" type="datetimeFigureOut">
              <a:rPr lang="en-IN" smtClean="0"/>
              <a:t>20-12-2025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ED786-1BFD-4CCC-B2D5-2069180465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2278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16420281-2DBE-4D95-A1A6-F2B0D901A3A4}" type="datetimeFigureOut">
              <a:rPr lang="en-IN" smtClean="0"/>
              <a:t>20-12-2025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8C6ED786-1BFD-4CCC-B2D5-2069180465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4554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9" r:id="rId1"/>
    <p:sldLayoutId id="2147483860" r:id="rId2"/>
    <p:sldLayoutId id="2147483861" r:id="rId3"/>
    <p:sldLayoutId id="2147483862" r:id="rId4"/>
    <p:sldLayoutId id="2147483863" r:id="rId5"/>
    <p:sldLayoutId id="2147483864" r:id="rId6"/>
    <p:sldLayoutId id="2147483865" r:id="rId7"/>
    <p:sldLayoutId id="2147483866" r:id="rId8"/>
    <p:sldLayoutId id="2147483867" r:id="rId9"/>
    <p:sldLayoutId id="2147483868" r:id="rId10"/>
    <p:sldLayoutId id="2147483869" r:id="rId11"/>
    <p:sldLayoutId id="2147483870" r:id="rId12"/>
    <p:sldLayoutId id="2147483871" r:id="rId13"/>
    <p:sldLayoutId id="2147483872" r:id="rId14"/>
    <p:sldLayoutId id="2147483873" r:id="rId15"/>
    <p:sldLayoutId id="2147483874" r:id="rId16"/>
    <p:sldLayoutId id="214748387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8B939-250A-0DEC-E74B-93657F8A6D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53614" y="1209367"/>
            <a:ext cx="9448800" cy="1868527"/>
          </a:xfrm>
        </p:spPr>
        <p:txBody>
          <a:bodyPr/>
          <a:lstStyle/>
          <a:p>
            <a:r>
              <a:rPr lang="en-US" b="1" i="1" dirty="0">
                <a:latin typeface="Algerian" panose="04020705040A02060702" pitchFamily="82" charset="0"/>
              </a:rPr>
              <a:t>INVISIBLE STRUCTURES </a:t>
            </a:r>
            <a:br>
              <a:rPr lang="en-US" b="1" i="1" dirty="0">
                <a:latin typeface="Algerian" panose="04020705040A02060702" pitchFamily="82" charset="0"/>
              </a:rPr>
            </a:br>
            <a:r>
              <a:rPr lang="en-US" b="1" i="1" dirty="0">
                <a:latin typeface="Algerian" panose="04020705040A02060702" pitchFamily="82" charset="0"/>
              </a:rPr>
              <a:t>AROUND US</a:t>
            </a:r>
            <a:endParaRPr lang="en-IN" b="1" i="1" dirty="0"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AC6B37-50EE-D57E-D689-5003DF2B62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3949" y="3437207"/>
            <a:ext cx="4222955" cy="6858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0000"/>
                </a:solidFill>
                <a:latin typeface="Agency FB" panose="020B0503020202020204" pitchFamily="34" charset="0"/>
              </a:rPr>
              <a:t>“INVISIBLE STRUCTURES QUIETLY SUPPORT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0000"/>
                </a:solidFill>
                <a:latin typeface="Agency FB" panose="020B0503020202020204" pitchFamily="34" charset="0"/>
              </a:rPr>
              <a:t>OUR 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0000"/>
                </a:solidFill>
                <a:latin typeface="Agency FB" panose="020B0503020202020204" pitchFamily="34" charset="0"/>
              </a:rPr>
              <a:t>WORLD, SHAPING 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0000"/>
                </a:solidFill>
                <a:latin typeface="Agency FB" panose="020B0503020202020204" pitchFamily="34" charset="0"/>
              </a:rPr>
              <a:t>WITHOUT BEING SEEN”</a:t>
            </a:r>
          </a:p>
          <a:p>
            <a:pPr>
              <a:lnSpc>
                <a:spcPct val="100000"/>
              </a:lnSpc>
            </a:pPr>
            <a:endParaRPr lang="en-US" sz="2400" dirty="0">
              <a:solidFill>
                <a:srgbClr val="FF0000"/>
              </a:solidFill>
              <a:latin typeface="Agency FB" panose="020B0503020202020204" pitchFamily="34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solidFill>
                <a:srgbClr val="FF0000"/>
              </a:solidFill>
              <a:latin typeface="Agency FB" panose="020B0503020202020204" pitchFamily="34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solidFill>
                <a:srgbClr val="FF0000"/>
              </a:solidFill>
              <a:latin typeface="Agency FB" panose="020B0503020202020204" pitchFamily="34" charset="0"/>
            </a:endParaRPr>
          </a:p>
          <a:p>
            <a:pPr>
              <a:lnSpc>
                <a:spcPct val="100000"/>
              </a:lnSpc>
            </a:pPr>
            <a:endParaRPr lang="en-IN" sz="2400" dirty="0">
              <a:solidFill>
                <a:srgbClr val="FF0000"/>
              </a:solidFill>
              <a:latin typeface="Agency FB" panose="020B0503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5872E3-5F36-8695-8123-2776E2EF58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0735" y="0"/>
            <a:ext cx="5201266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C884F30-8231-3621-B66D-09391B270437}"/>
              </a:ext>
            </a:extLst>
          </p:cNvPr>
          <p:cNvSpPr txBox="1"/>
          <p:nvPr/>
        </p:nvSpPr>
        <p:spPr>
          <a:xfrm>
            <a:off x="98324" y="5934670"/>
            <a:ext cx="61254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BY: </a:t>
            </a:r>
          </a:p>
          <a:p>
            <a:r>
              <a:rPr lang="en-US" dirty="0">
                <a:solidFill>
                  <a:srgbClr val="002060"/>
                </a:solidFill>
              </a:rPr>
              <a:t>DHANANJAYA N</a:t>
            </a:r>
            <a:r>
              <a:rPr lang="en-US" dirty="0"/>
              <a:t>, </a:t>
            </a:r>
            <a:r>
              <a:rPr lang="en-US" dirty="0">
                <a:solidFill>
                  <a:srgbClr val="7030A0"/>
                </a:solidFill>
              </a:rPr>
              <a:t>CHETHAN B, </a:t>
            </a:r>
            <a:r>
              <a:rPr lang="en-US" dirty="0">
                <a:solidFill>
                  <a:srgbClr val="C00000"/>
                </a:solidFill>
              </a:rPr>
              <a:t>CHINMAI C HOLLA</a:t>
            </a:r>
            <a:r>
              <a:rPr lang="en-US" dirty="0"/>
              <a:t>,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DISHA S,</a:t>
            </a:r>
            <a:r>
              <a:rPr lang="en-US" dirty="0"/>
              <a:t> </a:t>
            </a:r>
            <a:r>
              <a:rPr lang="en-US" dirty="0">
                <a:solidFill>
                  <a:schemeClr val="accent6"/>
                </a:solidFill>
              </a:rPr>
              <a:t>CHINTHANA M D</a:t>
            </a:r>
            <a:endParaRPr lang="en-IN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8048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3DEB1-C32A-AC03-A988-686C28982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48" y="-357957"/>
            <a:ext cx="10364452" cy="2511835"/>
          </a:xfrm>
        </p:spPr>
        <p:txBody>
          <a:bodyPr>
            <a:normAutofit/>
          </a:bodyPr>
          <a:lstStyle/>
          <a:p>
            <a:r>
              <a:rPr lang="en-US" sz="6000" u="sng" dirty="0" err="1">
                <a:solidFill>
                  <a:srgbClr val="7030A0"/>
                </a:solidFill>
                <a:latin typeface="Algerian" panose="04020705040A02060702" pitchFamily="82" charset="0"/>
              </a:rPr>
              <a:t>Wifi</a:t>
            </a:r>
            <a:r>
              <a:rPr lang="en-US" sz="6000" u="sng" dirty="0">
                <a:solidFill>
                  <a:srgbClr val="7030A0"/>
                </a:solidFill>
                <a:latin typeface="Algerian" panose="04020705040A02060702" pitchFamily="82" charset="0"/>
              </a:rPr>
              <a:t>-</a:t>
            </a:r>
            <a:r>
              <a:rPr lang="en-US" sz="6000" u="sng" dirty="0">
                <a:solidFill>
                  <a:srgbClr val="FF0000"/>
                </a:solidFill>
                <a:latin typeface="Algerian" panose="04020705040A02060702" pitchFamily="82" charset="0"/>
              </a:rPr>
              <a:t>wireless</a:t>
            </a:r>
            <a:r>
              <a:rPr lang="en-US" sz="6000" u="sng" dirty="0">
                <a:solidFill>
                  <a:srgbClr val="7030A0"/>
                </a:solidFill>
                <a:latin typeface="Algerian" panose="04020705040A02060702" pitchFamily="82" charset="0"/>
              </a:rPr>
              <a:t> </a:t>
            </a:r>
            <a:r>
              <a:rPr lang="en-US" sz="6000" u="sng" dirty="0">
                <a:solidFill>
                  <a:schemeClr val="bg2">
                    <a:lumMod val="50000"/>
                  </a:schemeClr>
                </a:solidFill>
                <a:latin typeface="Algerian" panose="04020705040A02060702" pitchFamily="82" charset="0"/>
              </a:rPr>
              <a:t>fidelity</a:t>
            </a:r>
            <a:endParaRPr lang="en-IN" sz="6000" u="sng" dirty="0">
              <a:solidFill>
                <a:schemeClr val="bg2">
                  <a:lumMod val="50000"/>
                </a:schemeClr>
              </a:solidFill>
              <a:latin typeface="Algerian" panose="04020705040A02060702" pitchFamily="82" charset="0"/>
            </a:endParaRPr>
          </a:p>
        </p:txBody>
      </p:sp>
      <p:pic>
        <p:nvPicPr>
          <p:cNvPr id="19" name="Picture Placeholder 18">
            <a:extLst>
              <a:ext uri="{FF2B5EF4-FFF2-40B4-BE49-F238E27FC236}">
                <a16:creationId xmlns:a16="http://schemas.microsoft.com/office/drawing/2014/main" id="{CE072AB7-F58B-475E-D60D-3E9EADF8179B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94" b="8994"/>
          <a:stretch>
            <a:fillRect/>
          </a:stretch>
        </p:blipFill>
        <p:spPr>
          <a:xfrm>
            <a:off x="6411873" y="2473683"/>
            <a:ext cx="3303588" cy="19843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3" name="Picture Placeholder 32">
            <a:extLst>
              <a:ext uri="{FF2B5EF4-FFF2-40B4-BE49-F238E27FC236}">
                <a16:creationId xmlns:a16="http://schemas.microsoft.com/office/drawing/2014/main" id="{984D6F99-AC78-6FD6-153B-9737A788FA8D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2" r="1142"/>
          <a:stretch>
            <a:fillRect/>
          </a:stretch>
        </p:blipFill>
        <p:spPr>
          <a:xfrm>
            <a:off x="1562730" y="2473684"/>
            <a:ext cx="3303587" cy="19843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5" name="Rectangle 1">
            <a:extLst>
              <a:ext uri="{FF2B5EF4-FFF2-40B4-BE49-F238E27FC236}">
                <a16:creationId xmlns:a16="http://schemas.microsoft.com/office/drawing/2014/main" id="{248F6F9A-8DF6-1794-5475-6A992D6B523C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01213" y="4473291"/>
            <a:ext cx="10500851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Invented by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Dr. John O'Sullivan and his team at CSIRO.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Year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Development began in 1992.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Tech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Used radio waves for wireless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Breakthrough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Created wireless networking without cables.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Standard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First Wi-Fi standard released in 1997.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7865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61D9D-CED4-2A75-A1ED-D170E0461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0420" y="-577421"/>
            <a:ext cx="10364452" cy="3427245"/>
          </a:xfrm>
        </p:spPr>
        <p:txBody>
          <a:bodyPr>
            <a:normAutofit/>
          </a:bodyPr>
          <a:lstStyle/>
          <a:p>
            <a:r>
              <a:rPr lang="en-US" sz="5400" dirty="0" err="1">
                <a:latin typeface="Algerian" panose="04020705040A02060702" pitchFamily="82" charset="0"/>
              </a:rPr>
              <a:t>Wifi</a:t>
            </a:r>
            <a:r>
              <a:rPr lang="en-US" sz="5400" dirty="0">
                <a:latin typeface="Algerian" panose="04020705040A02060702" pitchFamily="82" charset="0"/>
              </a:rPr>
              <a:t>- </a:t>
            </a:r>
            <a:r>
              <a:rPr lang="en-US" sz="5400" u="sng" dirty="0">
                <a:solidFill>
                  <a:srgbClr val="00B0F0"/>
                </a:solidFill>
                <a:latin typeface="Algerian" panose="04020705040A02060702" pitchFamily="82" charset="0"/>
              </a:rPr>
              <a:t>working </a:t>
            </a:r>
            <a:r>
              <a:rPr lang="en-US" sz="5400" u="sng" dirty="0">
                <a:solidFill>
                  <a:srgbClr val="FF0000"/>
                </a:solidFill>
                <a:latin typeface="Algerian" panose="04020705040A02060702" pitchFamily="82" charset="0"/>
              </a:rPr>
              <a:t>behind </a:t>
            </a:r>
            <a:r>
              <a:rPr lang="en-US" sz="5400" u="sng" dirty="0">
                <a:solidFill>
                  <a:srgbClr val="00B0F0"/>
                </a:solidFill>
                <a:latin typeface="Algerian" panose="04020705040A02060702" pitchFamily="82" charset="0"/>
              </a:rPr>
              <a:t>us </a:t>
            </a:r>
            <a:endParaRPr lang="en-IN" sz="5400" u="sng" dirty="0">
              <a:solidFill>
                <a:srgbClr val="00B0F0"/>
              </a:solidFill>
              <a:latin typeface="Algerian" panose="04020705040A02060702" pitchFamily="82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65FE55-0F32-FC60-24ED-D3D92E4E23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0242" y="1601127"/>
            <a:ext cx="6485071" cy="249739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Rectangle 1">
            <a:extLst>
              <a:ext uri="{FF2B5EF4-FFF2-40B4-BE49-F238E27FC236}">
                <a16:creationId xmlns:a16="http://schemas.microsoft.com/office/drawing/2014/main" id="{40F83098-B0F8-8D72-F36E-DF2E91D8D700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912977" y="3551278"/>
            <a:ext cx="8183651" cy="3411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Wi-Fi uses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radio waves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transmit data wirelessly.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router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connects to the internet and broadcasts the signal.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Your device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receives the signal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via its built-in Wi-Fi receiver.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Data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exchanged between your device and the router.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Encryption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secures the connection to protect your information.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6127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6FB5E3-6C85-4F8B-6416-E0C256D00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-255639"/>
            <a:ext cx="10364452" cy="3427245"/>
          </a:xfrm>
        </p:spPr>
        <p:txBody>
          <a:bodyPr>
            <a:normAutofit/>
          </a:bodyPr>
          <a:lstStyle/>
          <a:p>
            <a:r>
              <a:rPr lang="en-US" sz="4400" dirty="0" err="1">
                <a:solidFill>
                  <a:srgbClr val="00B0F0"/>
                </a:solidFill>
                <a:latin typeface="Algerian" panose="04020705040A02060702" pitchFamily="82" charset="0"/>
              </a:rPr>
              <a:t>Gps</a:t>
            </a:r>
            <a:r>
              <a:rPr lang="en-US" sz="4400" dirty="0">
                <a:latin typeface="Algerian" panose="04020705040A02060702" pitchFamily="82" charset="0"/>
              </a:rPr>
              <a:t>- </a:t>
            </a:r>
            <a:r>
              <a:rPr lang="en-IN" sz="4400" b="1" dirty="0">
                <a:solidFill>
                  <a:srgbClr val="FF0000"/>
                </a:solidFill>
                <a:latin typeface="Algerian" panose="04020705040A02060702" pitchFamily="82" charset="0"/>
              </a:rPr>
              <a:t>Global Positioning System</a:t>
            </a:r>
            <a:r>
              <a:rPr lang="en-IN" sz="4400" dirty="0">
                <a:latin typeface="Algerian" panose="04020705040A02060702" pitchFamily="82" charset="0"/>
              </a:rPr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2E22DEB-2486-0922-B884-D021B03C6C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73" y="1858988"/>
            <a:ext cx="4572000" cy="220396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3BA07E5-A5D1-15C3-AB8C-4506AF29BF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5057" y="1779000"/>
            <a:ext cx="5353037" cy="240369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5" name="Rectangle 1">
            <a:extLst>
              <a:ext uri="{FF2B5EF4-FFF2-40B4-BE49-F238E27FC236}">
                <a16:creationId xmlns:a16="http://schemas.microsoft.com/office/drawing/2014/main" id="{589A3F35-A924-4724-A496-82FCB214DB7E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913775" y="3843850"/>
            <a:ext cx="1125179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Started by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  It was developed by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U.S. Department of Defense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the 1970s.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Purpose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    Initially designed for military use, to provide accurate navigation for ships, planes, and vehicles.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How it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Works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:GPS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uses a network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satellites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orbiting Earth to send signals that devices can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cap="none" dirty="0">
                <a:latin typeface="Arial" panose="020B0604020202020204" pitchFamily="34" charset="0"/>
              </a:rPr>
              <a:t>           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 to determine location.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Public Access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1983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GPS became available for civilian use, allowing everyone to use it for navigation 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cap="none" dirty="0">
                <a:latin typeface="Arial" panose="020B0604020202020204" pitchFamily="34" charset="0"/>
              </a:rPr>
              <a:t>         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So, it started for the military but is now widely used in phones, cars,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cap="none" dirty="0">
                <a:latin typeface="Arial" panose="020B0604020202020204" pitchFamily="34" charset="0"/>
              </a:rPr>
              <a:t>             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other devices for location tracking.</a:t>
            </a:r>
          </a:p>
        </p:txBody>
      </p:sp>
    </p:spTree>
    <p:extLst>
      <p:ext uri="{BB962C8B-B14F-4D97-AF65-F5344CB8AC3E}">
        <p14:creationId xmlns:p14="http://schemas.microsoft.com/office/powerpoint/2010/main" val="3849307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AEAA4-9581-3BBB-AD20-74CC365E1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948" y="-501447"/>
            <a:ext cx="10364452" cy="3427245"/>
          </a:xfrm>
        </p:spPr>
        <p:txBody>
          <a:bodyPr>
            <a:normAutofit/>
          </a:bodyPr>
          <a:lstStyle/>
          <a:p>
            <a:r>
              <a:rPr lang="en-US" sz="4800" dirty="0" err="1">
                <a:solidFill>
                  <a:srgbClr val="FF6600"/>
                </a:solidFill>
                <a:latin typeface="Algerian" panose="04020705040A02060702" pitchFamily="82" charset="0"/>
              </a:rPr>
              <a:t>Gps</a:t>
            </a:r>
            <a:r>
              <a:rPr lang="en-US" sz="4800" dirty="0">
                <a:solidFill>
                  <a:srgbClr val="FF6600"/>
                </a:solidFill>
                <a:latin typeface="Algerian" panose="04020705040A02060702" pitchFamily="82" charset="0"/>
              </a:rPr>
              <a:t>- </a:t>
            </a:r>
            <a:r>
              <a:rPr lang="en-US" sz="4800" u="sng" dirty="0">
                <a:solidFill>
                  <a:schemeClr val="accent6"/>
                </a:solidFill>
                <a:latin typeface="Algerian" panose="04020705040A02060702" pitchFamily="82" charset="0"/>
              </a:rPr>
              <a:t>working </a:t>
            </a:r>
            <a:r>
              <a:rPr lang="en-US" sz="4800" u="sng" dirty="0">
                <a:solidFill>
                  <a:srgbClr val="FF0000"/>
                </a:solidFill>
                <a:latin typeface="Algerian" panose="04020705040A02060702" pitchFamily="82" charset="0"/>
              </a:rPr>
              <a:t>behind us </a:t>
            </a:r>
            <a:endParaRPr lang="en-IN" sz="4800" u="sng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BD24CA-D16F-3486-EB70-A6A92507F7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496" y="1813853"/>
            <a:ext cx="6558743" cy="211653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EECEC0-D912-05DB-4E68-20A0FF0501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7002" y="1812038"/>
            <a:ext cx="4404850" cy="211834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2042B85C-98BA-F916-50ED-0D3D663A9EEF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570271" y="4104826"/>
            <a:ext cx="10164437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Satellites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send signals from space.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Device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picks up signals from at least 4 satellites.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Time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measured to calculate distance.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Location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pinpointed based on signal timing.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Map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shows your exact position.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728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1E519-7150-13CD-9507-8B924617B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-646824"/>
            <a:ext cx="10364452" cy="3427245"/>
          </a:xfrm>
        </p:spPr>
        <p:txBody>
          <a:bodyPr>
            <a:normAutofit/>
          </a:bodyPr>
          <a:lstStyle/>
          <a:p>
            <a:r>
              <a:rPr lang="en-US" sz="4800" u="sng" dirty="0">
                <a:solidFill>
                  <a:srgbClr val="FF0000"/>
                </a:solidFill>
                <a:highlight>
                  <a:srgbClr val="FFFF00"/>
                </a:highlight>
                <a:latin typeface="Algerian" panose="04020705040A02060702" pitchFamily="82" charset="0"/>
              </a:rPr>
              <a:t>Smart</a:t>
            </a:r>
            <a:r>
              <a:rPr lang="en-US" sz="4800" dirty="0">
                <a:solidFill>
                  <a:schemeClr val="accent1">
                    <a:lumMod val="75000"/>
                  </a:schemeClr>
                </a:solidFill>
                <a:latin typeface="Algerian" panose="04020705040A02060702" pitchFamily="82" charset="0"/>
              </a:rPr>
              <a:t> </a:t>
            </a:r>
            <a:r>
              <a:rPr lang="en-US" sz="4800" u="sng" dirty="0">
                <a:solidFill>
                  <a:schemeClr val="accent1">
                    <a:lumMod val="75000"/>
                  </a:schemeClr>
                </a:solidFill>
                <a:latin typeface="Algerian" panose="04020705040A02060702" pitchFamily="82" charset="0"/>
              </a:rPr>
              <a:t>home</a:t>
            </a:r>
            <a:r>
              <a:rPr lang="en-US" sz="4800" dirty="0">
                <a:solidFill>
                  <a:schemeClr val="accent1">
                    <a:lumMod val="75000"/>
                  </a:schemeClr>
                </a:solidFill>
                <a:latin typeface="Algerian" panose="04020705040A02060702" pitchFamily="82" charset="0"/>
              </a:rPr>
              <a:t> </a:t>
            </a:r>
            <a:r>
              <a:rPr lang="en-US" sz="4800" dirty="0" err="1">
                <a:solidFill>
                  <a:srgbClr val="FF6600"/>
                </a:solidFill>
                <a:highlight>
                  <a:srgbClr val="00FFFF"/>
                </a:highlight>
                <a:latin typeface="Algerian" panose="04020705040A02060702" pitchFamily="82" charset="0"/>
              </a:rPr>
              <a:t>applicians</a:t>
            </a:r>
            <a:endParaRPr lang="en-IN" sz="4800" dirty="0">
              <a:solidFill>
                <a:srgbClr val="FF6600"/>
              </a:solidFill>
              <a:highlight>
                <a:srgbClr val="00FFFF"/>
              </a:highlight>
              <a:latin typeface="Algerian" panose="04020705040A02060702" pitchFamily="8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85CD37-D2A8-06D8-B3B9-E441547654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713" y="1786860"/>
            <a:ext cx="5065764" cy="281125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504172-CAEA-4974-C965-AFD3FD3197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1106" y="1786860"/>
            <a:ext cx="4097900" cy="26671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2C93A394-BEC5-CF06-6B50-B6638433E9D0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236713" y="4598112"/>
            <a:ext cx="9405332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Invention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Smart homes began in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1960s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and gained traction in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1990s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Purpose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Created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 tasks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improve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convenience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save energy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Who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X10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was a key pioneer in home automation in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1970s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Growth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rise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Wi-Fi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smartphones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voice assistants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boosted smart homes.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Today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Modern smart homes are focused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comfort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5810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29FBE-20BF-5466-B056-82DE66EE5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122" y="-646824"/>
            <a:ext cx="10364452" cy="3427245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Algerian" panose="04020705040A02060702" pitchFamily="82" charset="0"/>
              </a:rPr>
              <a:t>Smart home devices- </a:t>
            </a:r>
            <a:r>
              <a:rPr lang="en-US" sz="4000" dirty="0">
                <a:solidFill>
                  <a:srgbClr val="FF0000"/>
                </a:solidFill>
                <a:highlight>
                  <a:srgbClr val="FFFF00"/>
                </a:highlight>
                <a:latin typeface="Algerian" panose="04020705040A02060702" pitchFamily="82" charset="0"/>
              </a:rPr>
              <a:t>working behind    </a:t>
            </a:r>
            <a:endParaRPr lang="en-IN" sz="4000" dirty="0">
              <a:solidFill>
                <a:srgbClr val="FF0000"/>
              </a:solidFill>
              <a:highlight>
                <a:srgbClr val="FFFF00"/>
              </a:highlight>
              <a:latin typeface="Algerian" panose="04020705040A02060702" pitchFamily="8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A62068-E0AF-2E73-7090-CCBD71B4DA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690" y="1491118"/>
            <a:ext cx="4345859" cy="271370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72630C-A93F-E012-F5D4-D86248D046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2839" y="1582993"/>
            <a:ext cx="5445388" cy="249458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FEF8E59E-0984-D5DE-0EEF-B3D1BFCDF234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373926" y="4305511"/>
            <a:ext cx="8917826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Smart Home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internet-connected devices to control your home.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Convenience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Makes everyday tasks easier with remote control.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Energy Efficiency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Saves energy by automating lighting and temperature.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Security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Enhances safety with smart cameras and alarms.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Accessibility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people with disabilities manage their environment.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         Smart homes are all about comfort, control, and efficiency!</a:t>
            </a:r>
          </a:p>
        </p:txBody>
      </p:sp>
    </p:spTree>
    <p:extLst>
      <p:ext uri="{BB962C8B-B14F-4D97-AF65-F5344CB8AC3E}">
        <p14:creationId xmlns:p14="http://schemas.microsoft.com/office/powerpoint/2010/main" val="3806511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9E9F9-8D9C-CACD-15F1-BF3AB1749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379" y="-980543"/>
            <a:ext cx="10364452" cy="3427245"/>
          </a:xfrm>
        </p:spPr>
        <p:txBody>
          <a:bodyPr>
            <a:normAutofit/>
          </a:bodyPr>
          <a:lstStyle/>
          <a:p>
            <a:r>
              <a:rPr lang="en-US" sz="4400" u="sng" dirty="0">
                <a:solidFill>
                  <a:srgbClr val="FF0000"/>
                </a:solidFill>
                <a:latin typeface="Algerian" panose="04020705040A02060702" pitchFamily="82" charset="0"/>
              </a:rPr>
              <a:t>Traffic </a:t>
            </a:r>
            <a:r>
              <a:rPr lang="en-US" sz="4400" u="sng" dirty="0">
                <a:solidFill>
                  <a:srgbClr val="7030A0"/>
                </a:solidFill>
                <a:latin typeface="Algerian" panose="04020705040A02060702" pitchFamily="82" charset="0"/>
              </a:rPr>
              <a:t>lights</a:t>
            </a:r>
            <a:r>
              <a:rPr lang="en-US" sz="4400" u="sng" dirty="0">
                <a:solidFill>
                  <a:srgbClr val="FF0000"/>
                </a:solidFill>
                <a:latin typeface="Algerian" panose="04020705040A02060702" pitchFamily="82" charset="0"/>
              </a:rPr>
              <a:t> </a:t>
            </a:r>
            <a:endParaRPr lang="en-IN" sz="4400" u="sng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CC81130-61D3-D044-7F17-B06CE96010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679" y="1282962"/>
            <a:ext cx="3263728" cy="280136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929D160-9F29-44F1-043C-A0494F9120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3605" y="1491947"/>
            <a:ext cx="5318466" cy="251961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Rectangle 1">
            <a:extLst>
              <a:ext uri="{FF2B5EF4-FFF2-40B4-BE49-F238E27FC236}">
                <a16:creationId xmlns:a16="http://schemas.microsoft.com/office/drawing/2014/main" id="{E550FBA5-205C-ABD7-FA9B-403B0E9D38FD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465713" y="4042029"/>
            <a:ext cx="11726287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Invention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GPS (Global Positioning System) was developed by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U.S. Department of Defense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1970s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Purpose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Originally created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military navigation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track ships, planes, and troops.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How it Works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satellites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send signals to devices on Earth to determine precise locations.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Public Use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Opened for civilian use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1983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allowing everyone to use GPS for navigation.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Why It’s Used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navigation, tracking, mapping, and location-based services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worldwide.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3503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85176-2225-4864-229A-CA24229BE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948" y="-491614"/>
            <a:ext cx="10364452" cy="3427245"/>
          </a:xfrm>
        </p:spPr>
        <p:txBody>
          <a:bodyPr>
            <a:normAutofit/>
          </a:bodyPr>
          <a:lstStyle/>
          <a:p>
            <a:r>
              <a:rPr lang="en-US" sz="4400" u="sng" dirty="0">
                <a:solidFill>
                  <a:srgbClr val="7030A0"/>
                </a:solidFill>
                <a:highlight>
                  <a:srgbClr val="FFFF00"/>
                </a:highlight>
                <a:latin typeface="Algerian" panose="04020705040A02060702" pitchFamily="82" charset="0"/>
              </a:rPr>
              <a:t>Traffic</a:t>
            </a:r>
            <a:r>
              <a:rPr lang="en-US" sz="4400" u="sng" dirty="0">
                <a:solidFill>
                  <a:srgbClr val="7030A0"/>
                </a:solidFill>
                <a:latin typeface="Algerian" panose="04020705040A02060702" pitchFamily="82" charset="0"/>
              </a:rPr>
              <a:t> </a:t>
            </a:r>
            <a:r>
              <a:rPr lang="en-US" sz="4400" u="sng" dirty="0">
                <a:solidFill>
                  <a:srgbClr val="FF0000"/>
                </a:solidFill>
                <a:latin typeface="Algerian" panose="04020705040A02060702" pitchFamily="82" charset="0"/>
              </a:rPr>
              <a:t>light-</a:t>
            </a:r>
            <a:r>
              <a:rPr lang="en-US" sz="4400" u="sng" dirty="0">
                <a:solidFill>
                  <a:srgbClr val="00B050"/>
                </a:solidFill>
                <a:latin typeface="Algerian" panose="04020705040A02060702" pitchFamily="82" charset="0"/>
              </a:rPr>
              <a:t>working </a:t>
            </a:r>
            <a:r>
              <a:rPr lang="en-US" sz="4400" u="sng" dirty="0">
                <a:solidFill>
                  <a:srgbClr val="FF0000"/>
                </a:solidFill>
                <a:highlight>
                  <a:srgbClr val="FFFF00"/>
                </a:highlight>
                <a:latin typeface="Algerian" panose="04020705040A02060702" pitchFamily="82" charset="0"/>
              </a:rPr>
              <a:t>behind</a:t>
            </a:r>
            <a:r>
              <a:rPr lang="en-US" sz="4400" u="sng" dirty="0">
                <a:solidFill>
                  <a:srgbClr val="FF0000"/>
                </a:solidFill>
                <a:latin typeface="Algerian" panose="04020705040A02060702" pitchFamily="82" charset="0"/>
              </a:rPr>
              <a:t> us</a:t>
            </a:r>
            <a:endParaRPr lang="en-IN" sz="4400" u="sng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2F0880-6BA6-A677-A951-EBDBF11EBC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190" y="1713185"/>
            <a:ext cx="4909984" cy="273744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F67222B-DBC9-55E7-FE41-DD7657A3AD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6943" y="1769349"/>
            <a:ext cx="4237702" cy="262511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23E28C66-A5B5-2A7B-B9CA-FF3D17CFFD62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609600" y="4486355"/>
            <a:ext cx="9848179" cy="1908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Controller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Traffic lights are controlled by a timer or computer.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Sensors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 cars waiting at the intersection.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Sequence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Lights change green → yellow → red to manage traffic.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Timing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Each light stays on based on traffic flow.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Coordination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Lights at nearby intersections are synced to reduce jams.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7265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93CF8-2AF2-C5F2-1E4A-53A8BF45B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>
                <a:solidFill>
                  <a:srgbClr val="FF0000"/>
                </a:solidFill>
                <a:latin typeface="Algerian" panose="04020705040A02060702" pitchFamily="82" charset="0"/>
              </a:rPr>
              <a:t>SUMMARY</a:t>
            </a:r>
            <a:br>
              <a:rPr lang="en-US" sz="5400" dirty="0">
                <a:solidFill>
                  <a:srgbClr val="FF0000"/>
                </a:solidFill>
                <a:latin typeface="Algerian" panose="04020705040A02060702" pitchFamily="82" charset="0"/>
              </a:rPr>
            </a:br>
            <a:endParaRPr lang="en-IN" sz="5400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0EFCEAB-136D-0367-3E53-6512209BCABE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314609" y="2690480"/>
            <a:ext cx="11562781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Definition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Invisible structures are systems that work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behind the scenes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support our daily life.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Examples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GPS, Wi-Fi, traffic lights, and smart home devices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Purpose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They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make life easier, safer, and more convenient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How They Work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Operate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silently using technology, signals, and automation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Importance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Without them,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navigation, communication, safety, and home control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cap="none" dirty="0">
                <a:latin typeface="Arial" panose="020B0604020202020204" pitchFamily="34" charset="0"/>
              </a:rPr>
              <a:t>                      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wouldn’t function smoothly.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17949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5D3D694-54B9-3F93-124D-37BBCE3807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914645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209</TotalTime>
  <Words>676</Words>
  <Application>Microsoft Office PowerPoint</Application>
  <PresentationFormat>Widescreen</PresentationFormat>
  <Paragraphs>69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Agency FB</vt:lpstr>
      <vt:lpstr>Algerian</vt:lpstr>
      <vt:lpstr>Arial</vt:lpstr>
      <vt:lpstr>Tw Cen MT</vt:lpstr>
      <vt:lpstr>Droplet</vt:lpstr>
      <vt:lpstr>INVISIBLE STRUCTURES  AROUND US</vt:lpstr>
      <vt:lpstr>Wifi-wireless fidelity</vt:lpstr>
      <vt:lpstr>Wifi- working behind us </vt:lpstr>
      <vt:lpstr>Gps- Global Positioning System.</vt:lpstr>
      <vt:lpstr>Gps- working behind us </vt:lpstr>
      <vt:lpstr>Smart home applicians</vt:lpstr>
      <vt:lpstr>Smart home devices- working behind    </vt:lpstr>
      <vt:lpstr>Traffic lights </vt:lpstr>
      <vt:lpstr>Traffic light-working behind us</vt:lpstr>
      <vt:lpstr>SUMMARY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chinmayi n</dc:creator>
  <cp:lastModifiedBy>chinmayi n</cp:lastModifiedBy>
  <cp:revision>10</cp:revision>
  <dcterms:created xsi:type="dcterms:W3CDTF">2025-12-18T16:35:59Z</dcterms:created>
  <dcterms:modified xsi:type="dcterms:W3CDTF">2025-12-20T06:15:06Z</dcterms:modified>
</cp:coreProperties>
</file>